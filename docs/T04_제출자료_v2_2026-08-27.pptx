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T04 · 최종 제출자료 v2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오늘의 진짜 정보판 — 데이터가 안 올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949440" cy="1234440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2400" b="1">
                <a:solidFill>
                  <a:srgbClr val="F6F8FC"/>
                </a:solidFill>
              </a:defRPr>
            </a:pPr>
            <a:r>
              <a:t>실제 데이터의 값·맥락·실패 상태·일별 변화를</a:t>
            </a:r>
            <a:br/>
            <a:r>
              <a:t>정직하게 보여주는 공개 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017520"/>
            <a:ext cx="7132320" cy="201168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600" b="0">
                <a:solidFill>
                  <a:srgbClr val="F6F8FC"/>
                </a:solidFill>
              </a:defRPr>
            </a:pPr>
            <a:r>
              <a:t>공개 주소</a:t>
            </a:r>
            <a:br/>
            <a:r>
              <a:t>https://realtime-info-board-t04.vercel.app/</a:t>
            </a:r>
            <a:br/>
            <a:br/>
            <a:r>
              <a:t>소스</a:t>
            </a:r>
            <a:br/>
            <a:r>
              <a:t>github.com/stulss/realtime-info-board-t04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280160"/>
            <a:ext cx="2560320" cy="402336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700" b="1">
                <a:solidFill>
                  <a:srgbClr val="F6F8FC"/>
                </a:solidFill>
              </a:defRPr>
            </a:pPr>
            <a:r>
              <a:t>기획</a:t>
            </a:r>
            <a:br/>
            <a:r>
              <a:t>C01–C28</a:t>
            </a:r>
            <a:br/>
            <a:r>
              <a:t>AI 3줄</a:t>
            </a:r>
            <a:br/>
            <a:r>
              <a:t>검증 체크리스트</a:t>
            </a:r>
            <a:br/>
            <a:r>
              <a:t>트러블슈팅</a:t>
            </a:r>
            <a:br/>
            <a:r>
              <a:t>검증 안내서</a:t>
            </a:r>
            <a:br/>
            <a:r>
              <a:t>작업내역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기획 · 요구사항 · AI3줄 · 체크리스트 · 트러블슈팅 · 안내서 · 작업내역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사용한 문서와 증거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지정된 7개 문서만 본문 근거로 사용</a:t>
            </a:r>
            <a:br/>
            <a:r>
              <a:t>• 검증 주장 바로 뒤에 관련 스크린샷 배치</a:t>
            </a:r>
            <a:br/>
            <a:r>
              <a:t>• 합성 장애 fixture와 실제 날짜 기록을 분리</a:t>
            </a:r>
            <a:br/>
            <a:r>
              <a:t>• 완료와 보류를 같은 표에서 명확히 구분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기획 · 프로젝트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</a:t>
            </a:r>
          </a:p>
        </p:txBody>
      </p:sp>
      <p:pic>
        <p:nvPicPr>
          <p:cNvPr id="5" name="Picture 4" descr="02_실시간_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83" y="1097280"/>
            <a:ext cx="3233184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실시간 관심 데이터를 투명하게 보여주는 개인용 대시보드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기획 · 기술 스택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Next.js App Router + React + TypeScript strict</a:t>
            </a:r>
            <a:br/>
            <a:r>
              <a:t>• Tailwind CSS + TanStack Query</a:t>
            </a:r>
            <a:br/>
            <a:r>
              <a:t>• Vitest + Testing Library + Playwright</a:t>
            </a:r>
            <a:br/>
            <a:r>
              <a:t>• Vercel 공개 배포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기획 · 위젯 5개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5</a:t>
            </a:r>
          </a:p>
        </p:txBody>
      </p:sp>
      <p:pic>
        <p:nvPicPr>
          <p:cNvPr id="5" name="Picture 4" descr="01_상태별_카드_검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416" y="1097280"/>
            <a:ext cx="3342119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Lost Ark 공지·거래장, Upbit, 수출입은행 환율, GitHub Status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기획 · 시스템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브라우저는 /api/widgets/* Route Handler만 호출</a:t>
            </a:r>
            <a:br/>
            <a:r>
              <a:t>• 서버 provider adapter가 외부 API를 조회·정규화</a:t>
            </a:r>
            <a:br/>
            <a:r>
              <a:t>• 공통 계층: timeout·retry·429·503·TTL cache·dedupe</a:t>
            </a:r>
            <a:br/>
            <a:r>
              <a:t>• 마지막 성공값은 실패 시 stale로 전환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docs/01_기획.md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기획 · 구현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Upbit ticker — 20초 TTL</a:t>
            </a:r>
            <a:br/>
            <a:r>
              <a:t>• GitHub Status — 5분</a:t>
            </a:r>
            <a:br/>
            <a:r>
              <a:t>• 수출입은행 oapi — 1시간</a:t>
            </a:r>
            <a:br/>
            <a:r>
              <a:t>• Lost Ark notices — 15분</a:t>
            </a:r>
            <a:br/>
            <a:r>
              <a:t>• Lost Ark market — 5분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docs/00_과제_요구사항_매핑.md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과제 요구사항 · 전체 판정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완료: C01–C18, C20, C23–C28</a:t>
            </a:r>
            <a:br/>
            <a:r>
              <a:t>• 보류: C19·C21·C22</a:t>
            </a:r>
            <a:br/>
            <a:r>
              <a:t>• 보류 이유: recover-d2 asset과 실제 다음 KST 날짜 재실행</a:t>
            </a:r>
            <a:br/>
            <a:r>
              <a:t>• 합성 D1/D2를 실제 이틀 기록으로 주장하지 않음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C01–C10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C01–C10 · 공개 데이터와 맥락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9</a:t>
            </a:r>
          </a:p>
        </p:txBody>
      </p:sp>
      <p:pic>
        <p:nvPicPr>
          <p:cNvPr id="5" name="Picture 4" descr="C1_현재값_단위_출처_조회시각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2502" y="1097280"/>
            <a:ext cx="4383947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공개 주소·BTC/KRW·값·단위·출처·원천 시각·조회 시각·Asia/Seoul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스크린샷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C01–C10 · 화면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10</a:t>
            </a:r>
          </a:p>
        </p:txBody>
      </p:sp>
      <p:pic>
        <p:nvPicPr>
          <p:cNvPr id="5" name="Picture 4" descr="02_실시간_대시보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7883" y="1097280"/>
            <a:ext cx="3233184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실제 조회 화면의 값과 일별 기록 영역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C11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C11 · 비밀 없는 호출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11</a:t>
            </a:r>
          </a:p>
        </p:txBody>
      </p:sp>
      <p:pic>
        <p:nvPicPr>
          <p:cNvPr id="5" name="Picture 4" descr="C0_T04_독립감사_메타증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11" y="1097280"/>
            <a:ext cx="6525928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소스·배포 파일·네트워크·Git 비밀값 검색 0건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C06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C06 · 출처 한 번 클릭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12</a:t>
            </a:r>
          </a:p>
        </p:txBody>
      </p:sp>
      <p:pic>
        <p:nvPicPr>
          <p:cNvPr id="5" name="Picture 4" descr="06_출처링크_한번클릭_원자료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2156" y="1097280"/>
            <a:ext cx="9184640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화면 출처 링크에서 Upbit 원자료 페이지로 이동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C12–C16 · 장애 5종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timeout — 지연 후 client Abort</a:t>
            </a:r>
            <a:br/>
            <a:r>
              <a:t>• 401/403 — 인증 실패</a:t>
            </a:r>
            <a:br/>
            <a:r>
              <a:t>• 429 — 호출 제한</a:t>
            </a:r>
            <a:br/>
            <a:r>
              <a:t>• offline — 연결 실패</a:t>
            </a:r>
            <a:br/>
            <a:r>
              <a:t>• schema 변경 — 필수 필드 없는 JSON</a:t>
            </a:r>
            <a:br/>
            <a:r>
              <a:t>• 모든 장애에는 합성 시험값만 사용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C12 · timeout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14</a:t>
            </a:r>
          </a:p>
        </p:txBody>
      </p:sp>
      <p:pic>
        <p:nvPicPr>
          <p:cNvPr id="5" name="Picture 4" descr="장애_time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느린 응답을 시간 초과 상태로 구분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C13 · 401/403 인증 실패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15</a:t>
            </a:r>
          </a:p>
        </p:txBody>
      </p:sp>
      <p:pic>
        <p:nvPicPr>
          <p:cNvPr id="5" name="Picture 4" descr="장애_unauthoriz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외부 원천 인증 거절을 일반 오류와 구분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C14 · 429 호출 제한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16</a:t>
            </a:r>
          </a:p>
        </p:txBody>
      </p:sp>
      <p:pic>
        <p:nvPicPr>
          <p:cNvPr id="5" name="Picture 4" descr="장애_rate-limi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호출 제한 상태와 다시 시도 행동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C15 · 오프라인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17</a:t>
            </a:r>
          </a:p>
        </p:txBody>
      </p:sp>
      <p:pic>
        <p:nvPicPr>
          <p:cNvPr id="5" name="Picture 4" descr="장애_off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연결 실패를 오프라인으로 구분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C16 · 응답 형식 변경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18</a:t>
            </a:r>
          </a:p>
        </p:txBody>
      </p:sp>
      <p:pic>
        <p:nvPicPr>
          <p:cNvPr id="5" name="Picture 4" descr="장애_schema-chang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82622"/>
            <a:ext cx="11183112" cy="43956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필수 필드 없는 응답을 정상 데이터로 사용하지 않음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C17–C18 · 정상값이 없을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19</a:t>
            </a:r>
          </a:p>
        </p:txBody>
      </p:sp>
      <p:pic>
        <p:nvPicPr>
          <p:cNvPr id="5" name="Picture 4" descr="장애_정상값없음_빈상태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9385"/>
            <a:ext cx="11183112" cy="4242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숫자를 꾸며내지 않고 빈 상태 표시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C19 · 다시 시도와 복구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20</a:t>
            </a:r>
          </a:p>
        </p:txBody>
      </p:sp>
      <p:pic>
        <p:nvPicPr>
          <p:cNvPr id="5" name="Picture 4" descr="장애_다시시도_복구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59385"/>
            <a:ext cx="11183112" cy="42421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복구 후 fresh 상태와 정상 데이터로 전환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· 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C20–C24 · KST 일별 기록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21</a:t>
            </a:r>
          </a:p>
        </p:txBody>
      </p:sp>
      <p:pic>
        <p:nvPicPr>
          <p:cNvPr id="5" name="Picture 4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0415"/>
            <a:ext cx="11183112" cy="48400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같은 날짜 중복 방지와 두 날짜 원천·저장·화면 대조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실제 두 날짜 · 화면 증거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22</a:t>
            </a:r>
          </a:p>
        </p:txBody>
      </p:sp>
      <p:pic>
        <p:nvPicPr>
          <p:cNvPr id="5" name="Picture 4" descr="05_날짜별기록_중복방지_어제비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60415"/>
            <a:ext cx="11183112" cy="484008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2026-08-25 109,165,000 → 2026-08-26 109,830,000 KRW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C23–C24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변화값 손계산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109,830,000 - 109,165,000 = +665,000 KRW</a:t>
            </a:r>
            <a:br/>
            <a:r>
              <a:t>• 665,000 / 109,165,000 × 100 = 0.6091…%</a:t>
            </a:r>
            <a:br/>
            <a:r>
              <a:t>• 화면 반올림 +0.61%와 일치</a:t>
            </a:r>
            <a:br/>
            <a:r>
              <a:t>• 원천=저장=계산 입력=화면값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원천·저장 불일치 방어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24</a:t>
            </a:r>
          </a:p>
        </p:txBody>
      </p:sp>
      <p:pic>
        <p:nvPicPr>
          <p:cNvPr id="5" name="Picture 4" descr="07_원자료_저장값_불일치_비교중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36174"/>
            <a:ext cx="11183112" cy="488857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불일치 데이터를 정상 비교값처럼 표시하지 않음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docs/AI_3줄.md · 요구사항 매핑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C25–C28 · AI 3줄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개인정보·비밀값 0건</a:t>
            </a:r>
            <a:br/>
            <a:r>
              <a:t>• 합성 장애와 실제 기록 분리</a:t>
            </a:r>
            <a:br/>
            <a:r>
              <a:t>• 검증 안내서 4개 제목·3단계 행동</a:t>
            </a:r>
            <a:br/>
            <a:r>
              <a:t>• AI: 장애·일별 기록·테스트·증거 문서</a:t>
            </a:r>
            <a:br/>
            <a:r>
              <a:t>• 직접 판단: 복사본 작업·실제 Upbit 일봉</a:t>
            </a:r>
            <a:br/>
            <a:r>
              <a:t>• 불채택: 증거 덮어쓰기·미완료 허위 통과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docs/검증안내서.md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검증 안내 · 어디로 가나요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공개 대시보드: realtime-info-board-t04.vercel.app</a:t>
            </a:r>
            <a:br/>
            <a:r>
              <a:t>• 장애 검증: 같은 주소의 /verification</a:t>
            </a:r>
            <a:br/>
            <a:r>
              <a:t>• 원본 배포본과 T04 복사본 주소를 구분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docs/검증안내서.md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검증 안내 · 3단계 행동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1. 값·단위·출처·조회 시각·실제 날짜 2건과 링크 확인</a:t>
            </a:r>
            <a:br/>
            <a:r>
              <a:t>• 2. 이전/현재 값·방향·차이·단위와 중복 방지 확인</a:t>
            </a:r>
            <a:br/>
            <a:r>
              <a:t>• 3. 장애 5종·오래된 데이터·빈 상태·복구 확인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docs/검증안내서.md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검증 안내 · 통과와 안 될 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통과: 값의 맥락·KST 두 날짜·비교값·서로 다른 장애 문구</a:t>
            </a:r>
            <a:br/>
            <a:r>
              <a:t>• 값 오류: trade_price·candle_date_time_kst·KRW 대조</a:t>
            </a:r>
            <a:br/>
            <a:r>
              <a:t>• 중복: localStorage 날짜 고유키와 Asia/Seoul 확인</a:t>
            </a:r>
            <a:br/>
            <a:r>
              <a:t>• 장애: 장애 유형·선택 버튼·다시 시도 확인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트러블슈팅 · 빌드와 브라우저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npm.ps1 차단 → npm.cmd 사용</a:t>
            </a:r>
            <a:br/>
            <a:r>
              <a:t>• prerender document 접근 → 서버 경계 검사</a:t>
            </a:r>
            <a:br/>
            <a:r>
              <a:t>• 상대시각 hydration → 고정 server snapshot + client clock</a:t>
            </a:r>
            <a:br/>
            <a:r>
              <a:t>• 예상 503만 구분하고 런타임 오류 검사는 유지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트러블슈팅 · 공급자와 배포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수출입은행 기존 도메인 종료 → 신규 oapi migration</a:t>
            </a:r>
            <a:br/>
            <a:r>
              <a:t>• Lost Ark CategoryCode: 0 → 유효 options 카테고리 순회</a:t>
            </a:r>
            <a:br/>
            <a:r>
              <a:t>• 없는 기본 아이템 → 실제 조회 가능한 파괴강석</a:t>
            </a:r>
            <a:br/>
            <a:r>
              <a:t>• Vercel 전환 404 → 실패·성공 세트 모두 보존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docs/트러블슈팅.md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트러블슈팅 · 증거 덮어쓰기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31</a:t>
            </a:r>
          </a:p>
        </p:txBody>
      </p:sp>
      <p:pic>
        <p:nvPicPr>
          <p:cNvPr id="5" name="Picture 4" descr="C0_T04_독립감사_메타증거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1511" y="1097280"/>
            <a:ext cx="6525928" cy="5166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94360" y="6263640"/>
            <a:ext cx="10789920" cy="210312"/>
          </a:xfrm>
          <a:prstGeom prst="rect">
            <a:avLst/>
          </a:prstGeom>
          <a:noFill/>
        </p:spPr>
        <p:txBody>
          <a:bodyPr wrap="square" lIns="128016" rIns="128016" tIns="91440">
            <a:spAutoFit/>
          </a:bodyPr>
          <a:lstStyle/>
          <a:p>
            <a:pPr>
              <a:defRPr sz="1000" b="0">
                <a:solidFill>
                  <a:srgbClr val="A2B2C6"/>
                </a:solidFill>
              </a:defRPr>
            </a:pPr>
            <a:r>
              <a:t>UTC 실행시각별 폴더 · 기존 대상 존재 시 중단 · 최초 손실 사실도 기록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작업내역_체크리스트.md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작업내역 · 구현 과정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전략 분석·계획·표준 문서 구축</a:t>
            </a:r>
            <a:br/>
            <a:r>
              <a:t>• 공통 WidgetData 계약과 5개 provider</a:t>
            </a:r>
            <a:br/>
            <a:r>
              <a:t>• timeout/retry/cache/dedupe/stale fallback</a:t>
            </a:r>
            <a:br/>
            <a:r>
              <a:t>• 로컬 검증과 Vercel 실데이터 검증</a:t>
            </a:r>
            <a:br/>
            <a:r>
              <a:t>• 원본 복사 후 T04 카드 3–5 보완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작업내역_체크리스트.md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작업내역 · 주요 결정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Route Handler로 키 필요 API를 서버에서만 처리</a:t>
            </a:r>
            <a:br/>
            <a:r>
              <a:t>• 위젯 5개 확정·근거 없는 서버 혼잡도 제외</a:t>
            </a:r>
            <a:br/>
            <a:r>
              <a:t>• 공통 오류 계약으로 429·503·network 분리</a:t>
            </a:r>
            <a:br/>
            <a:r>
              <a:t>• 증거는 UTC 실행별 누적, 기존 파일 수정·삭제 금지</a:t>
            </a:r>
            <a:br/>
            <a:r>
              <a:t>• T04는 원본이 아닌 복사본에서만 작업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작업내역_체크리스트.md · T04 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작업내역 · 최종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lint 통과</a:t>
            </a:r>
            <a:br/>
            <a:r>
              <a:t>• typecheck 통과</a:t>
            </a:r>
            <a:br/>
            <a:r>
              <a:t>• T04 확장 Vitest 41개 통과</a:t>
            </a:r>
            <a:br/>
            <a:r>
              <a:t>• production build 통과</a:t>
            </a:r>
            <a:br/>
            <a:r>
              <a:t>• Playwright E2E 9개 통과</a:t>
            </a:r>
            <a:br/>
            <a:r>
              <a:t>• 공개 배포와 GitHub 저장소 확인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182880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45D2A3"/>
                </a:solidFill>
              </a:defRPr>
            </a:pPr>
            <a:r>
              <a:t>요구사항 매핑 · 검증 체크리스트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97280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6F8FC"/>
                </a:solidFill>
              </a:defRPr>
            </a:pPr>
            <a:r>
              <a:t>최종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01400" y="6510528"/>
            <a:ext cx="502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A2B2C6"/>
                </a:solidFill>
              </a:defRPr>
            </a:pPr>
            <a:r>
              <a:t>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234440"/>
            <a:ext cx="10835640" cy="5074920"/>
          </a:xfrm>
          <a:prstGeom prst="rect">
            <a:avLst/>
          </a:prstGeom>
          <a:solidFill>
            <a:srgbClr val="151E2C"/>
          </a:solidFill>
        </p:spPr>
        <p:txBody>
          <a:bodyPr wrap="square" lIns="128016" rIns="128016" tIns="91440">
            <a:spAutoFit/>
          </a:bodyPr>
          <a:lstStyle/>
          <a:p>
            <a:pPr>
              <a:defRPr sz="1800" b="0">
                <a:solidFill>
                  <a:srgbClr val="F6F8FC"/>
                </a:solidFill>
              </a:defRPr>
            </a:pPr>
            <a:r>
              <a:t>• 완료: 공개 주소·데이터 맥락·비밀값 0건·장애 5종</a:t>
            </a:r>
            <a:br/>
            <a:r>
              <a:t>• 완료: stale/empty/retry·중복 방지·실제 원천 대조·손계산</a:t>
            </a:r>
            <a:br/>
            <a:r>
              <a:t>• 완료: AI 3줄·검증 안내·증거 스크린샷·SHA-256</a:t>
            </a:r>
            <a:br/>
            <a:r>
              <a:t>• 보류: 실제 다음 KST 날짜 앱 재실행</a:t>
            </a:r>
            <a:br/>
            <a:r>
              <a:t>• 보류: 제공되지 않은 public asset SHA-256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