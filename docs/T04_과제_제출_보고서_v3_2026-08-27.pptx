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T04 · 과제 제출 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오늘의 진짜 정보판 — 데이터가 안 올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6675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EEEE7"/>
                </a:solidFill>
              </a:defRPr>
            </a:pPr>
            <a:r>
              <a:t>실제 데이터가 늦거나 실패해도</a:t>
            </a:r>
            <a:br/>
            <a:r>
              <a:t>마지막 정상값과 현재 상태를 정직하게 보여주는 정보판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246120"/>
            <a:ext cx="6812280" cy="1874519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602736"/>
            <a:ext cx="6263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EEEE7"/>
                </a:solidFill>
              </a:defRPr>
            </a:pPr>
            <a:r>
              <a:t>결과물  realtime-info-board-t04.vercel.app</a:t>
            </a:r>
            <a:br/>
            <a:r>
              <a:t>소스     github.com/stulss/realtime-info-board-t04</a:t>
            </a:r>
            <a:br/>
            <a:r>
              <a:t>데이터   Upbit BTC/KRW · Asia/Seoul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2834640" cy="4389120"/>
          </a:xfrm>
          <a:prstGeom prst="roundRect">
            <a:avLst/>
          </a:prstGeom>
          <a:solidFill>
            <a:srgbClr val="2C3028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7830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6FF22"/>
                </a:solidFill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9659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2B5A6"/>
                </a:solidFill>
              </a:defRPr>
            </a:pPr>
            <a:r>
              <a:t>과제 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788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EEEEE7"/>
                </a:solidFill>
              </a:defRPr>
            </a:pPr>
            <a:r>
              <a:t>5종</a:t>
            </a:r>
            <a:br/>
            <a:r>
              <a:t>장애 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0690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EEEEE7"/>
                </a:solidFill>
              </a:defRPr>
            </a:pPr>
            <a:r>
              <a:t>2일</a:t>
            </a:r>
            <a:br/>
            <a:r>
              <a:t>실제 원천 기록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기획 · 요구사항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OVERVIEW ·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현재값만으로 출처·시각을 알 수 없음</a:t>
            </a:r>
            <a:br/>
            <a:r>
              <a:t>• 실패가 같은 오류로 보이면 대응 불가</a:t>
            </a:r>
            <a:br/>
            <a:r>
              <a:t>• 기록과 계산이 원천과 같은지 검증 어려움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값·단위·출처·두 시각·KST</a:t>
            </a:r>
            <a:br/>
            <a:r>
              <a:t>• 장애 종류·stale·empty·retry</a:t>
            </a:r>
            <a:br/>
            <a:r>
              <a:t>• 일별 기록과 어제 대비 손계산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검증안내서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USER GUIDE · 30초 확인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3456432" cy="41605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6FF22"/>
                </a:solidFill>
              </a:defRPr>
            </a:pPr>
            <a:r>
              <a:t>01 · 메인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1460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EEEEE7"/>
                </a:solidFill>
              </a:defRPr>
            </a:pPr>
            <a:r>
              <a:t>값·단위·출처·두 시각·KST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663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2B5A6"/>
                </a:solidFill>
              </a:defRPr>
            </a:pPr>
            <a:r>
              <a:t>설치·로그인 없이</a:t>
            </a:r>
            <a:br/>
            <a:r>
              <a:t>공개 주소에서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56432" cy="41605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6FF22"/>
                </a:solidFill>
              </a:defRPr>
            </a:pPr>
            <a:r>
              <a:t>02 · 기록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1460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EEEEE7"/>
                </a:solidFill>
              </a:defRPr>
            </a:pPr>
            <a:r>
              <a:t>실제 2행·변화값·출처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663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2B5A6"/>
                </a:solidFill>
              </a:defRPr>
            </a:pPr>
            <a:r>
              <a:t>설치·로그인 없이</a:t>
            </a:r>
            <a:br/>
            <a:r>
              <a:t>공개 주소에서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08760"/>
            <a:ext cx="3456432" cy="41605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6FF22"/>
                </a:solidFill>
              </a:defRPr>
            </a:pPr>
            <a:r>
              <a:t>03 · 장애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51460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EEEEE7"/>
                </a:solidFill>
              </a:defRPr>
            </a:pPr>
            <a:r>
              <a:t>5종·빈 상태·다시 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4663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2B5A6"/>
                </a:solidFill>
              </a:defRPr>
            </a:pPr>
            <a:r>
              <a:t>설치·로그인 없이</a:t>
            </a:r>
            <a:br/>
            <a:r>
              <a:t>공개 주소에서 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과제 요구사항 C03–C10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1 · 매일 궁금한 값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사용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Upbit 공개 BTC/KRW 완료 일봉</a:t>
            </a:r>
            <a:br/>
            <a:r>
              <a:t>• trade_price · candle_date_time_kst</a:t>
            </a:r>
            <a:br/>
            <a:r>
              <a:t>• 기준 시간대 Asia/Seoul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화면 맥락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현재값·KRW 단위</a:t>
            </a:r>
            <a:br/>
            <a:r>
              <a:t>• 원천 URL·원천 관측 시각</a:t>
            </a:r>
            <a:br/>
            <a:r>
              <a:t>• 조회 시각·일별 기록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CARD 1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1 · 값의 맥락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1_현재값_단위_출처_조회시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532" y="1444752"/>
            <a:ext cx="3879599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</a:defRPr>
            </a:pPr>
            <a:r>
              <a:t>현재값·단위·출처·원천 시각·조회 시각을 한 화면에서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과제 요구사항 C11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2 · 비밀 없는 호출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호출 경로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브라우저 → /api/widgets/*</a:t>
            </a:r>
            <a:br/>
            <a:r>
              <a:t>• 서버 provider → 외부 API</a:t>
            </a:r>
            <a:br/>
            <a:r>
              <a:t>• WidgetData&lt;T&gt; 정규화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검사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소스·배포 파일 비밀값 0건</a:t>
            </a:r>
            <a:br/>
            <a:r>
              <a:t>• 네트워크·Git 비밀값 0건</a:t>
            </a:r>
            <a:br/>
            <a:r>
              <a:t>• 브라우저 provider 직접 요청 0건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CARD 2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2 · 출처 한 번 클릭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출처링크_한번클릭_원자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331" y="1444752"/>
            <a:ext cx="8128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</a:defRPr>
            </a:pPr>
            <a:r>
              <a:t>Upbit 출처 링크를 한 번 눌러 원자료 페이지로 이동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검증 체크리스트 C12–C19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3 · 다섯 가지 실패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합성 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timeout · 401/403 · 429</a:t>
            </a:r>
            <a:br/>
            <a:r>
              <a:t>• offline · schema 변경</a:t>
            </a:r>
            <a:br/>
            <a:r>
              <a:t>• 실제 원천/날짜 기록과 분리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공통 행동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오류 종류별 문구</a:t>
            </a:r>
            <a:br/>
            <a:r>
              <a:t>• 마지막 정상값은 stale</a:t>
            </a:r>
            <a:br/>
            <a:r>
              <a:t>• 정상값 없으면 empty · 다시 시도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C12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3 · timeout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장애_time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01204"/>
            <a:ext cx="10835640" cy="4259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</a:defRPr>
            </a:pPr>
            <a:r>
              <a:t>느린 응답을 별도 시간 초과 상태로 표시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C13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3 · 인증 실패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장애_unauthor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01204"/>
            <a:ext cx="10835640" cy="4259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</a:defRPr>
            </a:pPr>
            <a:r>
              <a:t>HTTP 401/403을 인증 실패로 구분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C14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3 · 호출 제한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장애_rate-lim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01204"/>
            <a:ext cx="10835640" cy="4259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</a:defRPr>
            </a:pPr>
            <a:r>
              <a:t>HTTP 429를 호출 제한으로 구분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C15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3 · 오프라인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장애_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01204"/>
            <a:ext cx="10835640" cy="4259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</a:defRPr>
            </a:pPr>
            <a:r>
              <a:t>연결 실패를 별도 오프라인 상태로 표시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C16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3 · 응답 형식 변경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장애_schema-chan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01204"/>
            <a:ext cx="10835640" cy="4259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</a:defRPr>
            </a:pPr>
            <a:r>
              <a:t>필수 필드 없는 JSON을 정상값으로 사용하지 않음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C17–C18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3 · 정상값이 없을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장애_정상값없음_빈상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75581"/>
            <a:ext cx="10835640" cy="4110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</a:defRPr>
            </a:pPr>
            <a:r>
              <a:t>값을 꾸며내지 않고 표시할 데이터 없음으로 안내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C19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3 · 다시 시도 복구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장애_다시시도_복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75581"/>
            <a:ext cx="10835640" cy="4110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</a:defRPr>
            </a:pPr>
            <a:r>
              <a:t>다시 시도 후 fresh 상태와 정상 데이터로 복구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과제 요구사항 C20–C22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4 · 하루 한 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고유키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Asia/Seoul 날짜</a:t>
            </a:r>
            <a:br/>
            <a:r>
              <a:t>• 데이터 종류</a:t>
            </a:r>
            <a:br/>
            <a:r>
              <a:t>• upbit:KRW-BTC:YYYY-MM-DD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갱신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같은 날짜는 한 행으로 병합</a:t>
            </a:r>
            <a:br/>
            <a:r>
              <a:t>• 다른 날짜는 새 행</a:t>
            </a:r>
            <a:br/>
            <a:r>
              <a:t>• 합성 기록과 실제 기록 분리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CARD 4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4 · 날짜 중복 방지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날짜별기록_중복방지_어제비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88" y="1444752"/>
            <a:ext cx="10563686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</a:defRPr>
            </a:pPr>
            <a:r>
              <a:t>같은 날짜 동기화 후에도 날짜별 고유 행 유지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과제 요구사항 C23–C24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5 · 실제 이틀과 어제 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실제 원천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2026-08-25 · 109,165,000 KRW</a:t>
            </a:r>
            <a:br/>
            <a:r>
              <a:t>• 2026-08-26 · 109,830,000 KRW</a:t>
            </a:r>
            <a:br/>
            <a:r>
              <a:t>• 원천=저장=계산=화면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손계산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차이 +665,000 KRW</a:t>
            </a:r>
            <a:br/>
            <a:r>
              <a:t>• 변화율 0.6091…%</a:t>
            </a:r>
            <a:br/>
            <a:r>
              <a:t>• 화면 반올림 +0.61%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CARD 5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CARD 5 · 비교와 방어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원자료_저장값_불일치_비교중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70" y="1444752"/>
            <a:ext cx="10458922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</a:defRPr>
            </a:pPr>
            <a:r>
              <a:t>원천과 저장값이 다르면 비교 계산을 중단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docs/01_기획.md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TECH DECISION · 왜 Route Handler인가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브라우저 직접 호출의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비밀키·공급자 주소 노출</a:t>
            </a:r>
            <a:br/>
            <a:r>
              <a:t>• provider별 오류 처리 중복</a:t>
            </a:r>
            <a:br/>
            <a:r>
              <a:t>• 응답 형식 변경이 UI까지 전파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서버 경계의 이점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비밀값 서버 전용</a:t>
            </a:r>
            <a:br/>
            <a:r>
              <a:t>• 공통 오류·스키마 검증</a:t>
            </a:r>
            <a:br/>
            <a:r>
              <a:t>• cache·dedupe·stale 재사용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docs/01_기획.md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ARCHITECTURE · 시스템과 위젯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기술 스택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Next.js · React · TypeScript strict</a:t>
            </a:r>
            <a:br/>
            <a:r>
              <a:t>• TanStack Query · Tailwind</a:t>
            </a:r>
            <a:br/>
            <a:r>
              <a:t>• Vitest · Playwright · 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5개 위젯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Lost Ark 공지·거래장</a:t>
            </a:r>
            <a:br/>
            <a:r>
              <a:t>• Upbit · 수출입은행 환율</a:t>
            </a:r>
            <a:br/>
            <a:r>
              <a:t>• GitHub Status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docs/트러블슈팅.md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TROUBLESHOOTING 1 · SSR과 브라우저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npm.ps1 실행 정책 차단</a:t>
            </a:r>
            <a:br/>
            <a:r>
              <a:t>• prerender에서 document 접근</a:t>
            </a:r>
            <a:br/>
            <a:r>
              <a:t>• 상대시각 hydration 불일치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npm.cmd 사용</a:t>
            </a:r>
            <a:br/>
            <a:r>
              <a:t>• typeof document 서버 경계</a:t>
            </a:r>
            <a:br/>
            <a:r>
              <a:t>• 고정 snapshot + client clock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docs/트러블슈팅.md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TROUBLESHOOTING 2 · 공급자와 배포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수출입은행 기존 도메인 종료</a:t>
            </a:r>
            <a:br/>
            <a:r>
              <a:t>• Lost Ark CategoryCode·기본 아이템</a:t>
            </a:r>
            <a:br/>
            <a:r>
              <a:t>• Vercel 전환 중 일시 404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신규 oapi migration</a:t>
            </a:r>
            <a:br/>
            <a:r>
              <a:t>• options 순회·파괴강석</a:t>
            </a:r>
            <a:br/>
            <a:r>
              <a:t>• 실패/성공 증거 모두 보존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docs/트러블슈팅.md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TROUBLESHOOTING 3 · 증거 덮어쓰기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0_T04_독립감사_메타증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753" y="1444752"/>
            <a:ext cx="5775157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</a:defRPr>
            </a:pPr>
            <a:r>
              <a:t>UTC 실행별 새 폴더 · 기존 대상 존재 시 중단 · 최초 손실 사실 기록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docs/AI_3줄.md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AI 3줄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11009376" cy="46177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10378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EEEE7"/>
                </a:solidFill>
              </a:defRPr>
            </a:pPr>
            <a:r>
              <a:t>• AI에게 맡긴 일 — 기존 코드 보존, 장애 5종, 일별 기록, 비교, 테스트, 증거 문서</a:t>
            </a:r>
            <a:br/>
            <a:r>
              <a:t>• 직접 판단한 일 — 복사본에서만 작업, 실제 Upbit 일봉 사용</a:t>
            </a:r>
            <a:br/>
            <a:r>
              <a:t>• AI 말을 안 들은 일 — 기존 증거 덮어쓰기, 미완료 항목 허위 통과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docs/검증안내서.md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VERIFICATION GUIDE 1 · 어디로 / 무엇을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어디로 가나요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realtime-info-board-t04.vercel.app</a:t>
            </a:r>
            <a:br/>
            <a:r>
              <a:t>• 같은 주소의 /verification</a:t>
            </a:r>
            <a:br/>
            <a:r>
              <a:t>• 원본 프로젝트 주소와 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무엇을 하나요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값의 맥락 확인</a:t>
            </a:r>
            <a:br/>
            <a:r>
              <a:t>• 두 날짜·변화·출처 확인</a:t>
            </a:r>
            <a:br/>
            <a:r>
              <a:t>• 장애 5종·빈 상태·복구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docs/검증안내서.md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VERIFICATION GUIDE 2 · 통과 / 안 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통과 모습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값·KRW·출처·두 시각</a:t>
            </a:r>
            <a:br/>
            <a:r>
              <a:t>• KST 실제 두 행·변화값</a:t>
            </a:r>
            <a:br/>
            <a:r>
              <a:t>• 장애별 문구·stale·empty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안 될 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Upbit 원천 필드 대조</a:t>
            </a:r>
            <a:br/>
            <a:r>
              <a:t>• localStorage 날짜 키 확인</a:t>
            </a:r>
            <a:br/>
            <a:r>
              <a:t>• 장애 유형·다시 시도 확인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요구사항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CHECKLIST · C01–C16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C01–C11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공개 주소·실제 원천</a:t>
            </a:r>
            <a:br/>
            <a:r>
              <a:t>• 값·단위·출처·두 시각·KST</a:t>
            </a:r>
            <a:br/>
            <a:r>
              <a:t>• 원천/저장/화면 일치·비밀값 0건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C12–C16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timeout · 401/403 · 429</a:t>
            </a:r>
            <a:br/>
            <a:r>
              <a:t>• offline · schema 변경</a:t>
            </a:r>
            <a:br/>
            <a:r>
              <a:t>• 합성 시험값만 사용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요구사항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CHECKLIST · C17–C28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C17–C18 stale/empty · C20 중복</a:t>
            </a:r>
            <a:br/>
            <a:r>
              <a:t>• C23–C24 대조·손계산</a:t>
            </a:r>
            <a:br/>
            <a:r>
              <a:t>• C25–C28 개인정보·안내·AI 3줄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보류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C19 공개 recover-d2 asset</a:t>
            </a:r>
            <a:br/>
            <a:r>
              <a:t>• C21 다음 실제 KST 날짜</a:t>
            </a:r>
            <a:br/>
            <a:r>
              <a:t>• C22 서로 다른 날 앱 직접 실행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작업내역_체크리스트.md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WORK LOG · 구현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11009376" cy="46177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10378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EEEE7"/>
                </a:solidFill>
              </a:defRPr>
            </a:pPr>
            <a:r>
              <a:t>• 전략 분석 → 계획과 표준 문서</a:t>
            </a:r>
            <a:br/>
            <a:r>
              <a:t>• WidgetData 계약 → 5개 provider</a:t>
            </a:r>
            <a:br/>
            <a:r>
              <a:t>• cache·error·dedupe·stale fallback</a:t>
            </a:r>
            <a:br/>
            <a:r>
              <a:t>• lint·typecheck·unit·build·E2E</a:t>
            </a:r>
            <a:br/>
            <a:r>
              <a:t>• Vercel 배포 → T04 복사본 카드 3–5 보완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FINAL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공개 주소·데이터 맥락·비밀값 0건</a:t>
            </a:r>
            <a:br/>
            <a:r>
              <a:t>• 장애 5종·stale/empty/retry</a:t>
            </a:r>
            <a:br/>
            <a:r>
              <a:t>• KST 중복·실제 원천 대조·손계산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보류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</a:defRPr>
            </a:pPr>
            <a:r>
              <a:t>• 실제 다음 KST 날짜 앱 재실행</a:t>
            </a:r>
            <a:br/>
            <a:r>
              <a:t>• 제공되지 않은 public asset SHA-256</a:t>
            </a:r>
            <a:br/>
            <a:r>
              <a:t>• 증거를 조작하지 않고 보류 표시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14884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1915"/>
                </a:solidFill>
              </a:defRPr>
            </a:pPr>
            <a:r>
              <a:t>T04 · FINAL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00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EEEE7"/>
                </a:solidFill>
              </a:defRPr>
            </a:pPr>
            <a:r>
              <a:t>제출 주소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5A6"/>
                </a:solidFill>
              </a:defRPr>
            </a:pPr>
            <a: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789920" cy="443484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결과물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8308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EEEE7"/>
                </a:solidFill>
              </a:defRPr>
            </a:pPr>
            <a:r>
              <a:t>https://realtime-info-board-t04.vercel.app/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장애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EEEE7"/>
                </a:solidFill>
              </a:defRPr>
            </a:pPr>
            <a:r>
              <a:t>https://realtime-info-board-t04.vercel.app/verification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4903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소스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703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EEEE7"/>
                </a:solidFill>
              </a:defRPr>
            </a:pPr>
            <a:r>
              <a:t>https://github.com/stulss/realtime-info-board-t04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</a:defRPr>
            </a:pPr>
            <a:r>
              <a:t>원고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663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EEEE7"/>
                </a:solidFill>
              </a:defRPr>
            </a:pPr>
            <a:r>
              <a:t>docs/T04_제출자료_원고_v3.md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