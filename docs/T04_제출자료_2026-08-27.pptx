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데이터가 안 올 때도 정직한 정보판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6766560" cy="132588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Upbit BTC/KRW 일봉을 매일 기록하고</a:t>
            </a:r>
            <a:br/>
            <a:r>
              <a:t>실패에도 마지막 정상값과 현재 상태를 설명합니다.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6949440" cy="192024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600" b="0">
                <a:solidFill>
                  <a:srgbClr val="F5F8FC"/>
                </a:solidFill>
              </a:defRPr>
            </a:pPr>
            <a:r>
              <a:t>공개 결과</a:t>
            </a:r>
            <a:br/>
            <a:r>
              <a:t>https://realtime-info-board-t04.vercel.app/</a:t>
            </a:r>
            <a:br/>
            <a:br/>
            <a:r>
              <a:t>소스</a:t>
            </a:r>
            <a:br/>
            <a:r>
              <a:t>github.com/stulss/realtime-info-board-t04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463040"/>
            <a:ext cx="2560320" cy="342900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800" b="1">
                <a:solidFill>
                  <a:srgbClr val="F5F8FC"/>
                </a:solidFill>
              </a:defRPr>
            </a:pPr>
            <a:r>
              <a:t>실제 공개 데이터</a:t>
            </a:r>
            <a:br/>
            <a:r>
              <a:t>합성 장애 5종</a:t>
            </a:r>
            <a:br/>
            <a:r>
              <a:t>KST 일별 기록</a:t>
            </a:r>
            <a:br/>
            <a:r>
              <a:t>스크린샷 SHA-256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</a:t>
            </a:r>
          </a:p>
        </p:txBody>
      </p:sp>
      <p:pic>
        <p:nvPicPr>
          <p:cNvPr id="5" name="Picture 4" descr="02_실시간_대시보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95" y="1143000"/>
            <a:ext cx="31759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값·출처·시각·실패 상태·어제 대비 변화를 한 화면에 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기능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900" b="0">
                <a:solidFill>
                  <a:srgbClr val="F5F8FC"/>
                </a:solidFill>
              </a:defRPr>
            </a:pPr>
            <a:r>
              <a:t>• / — 실시간 카드, 일별 기록, 비교값, 출처 링크</a:t>
            </a:r>
            <a:br/>
            <a:r>
              <a:t>• /verification — 다섯 합성 장애, stale/empty, 다시 시도</a:t>
            </a:r>
            <a:br/>
            <a:r>
              <a:t>• Upbit 원자료 — 실제 일봉 값과 KST 관측 시각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데이터 호출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789920" cy="41148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300" b="0">
                <a:solidFill>
                  <a:srgbClr val="A5B4C7"/>
                </a:solidFill>
              </a:defRPr>
            </a:pPr>
            <a:r>
              <a:t>비밀값을 브라우저·배포 파일·네트워크 응답에 남기지 않는 서버 경계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900" b="0">
                <a:solidFill>
                  <a:srgbClr val="F5F8FC"/>
                </a:solidFill>
              </a:defRPr>
            </a:pPr>
            <a:r>
              <a:t>• 브라우저 → Next.js Route Handler</a:t>
            </a:r>
            <a:br/>
            <a:r>
              <a:t>• provider adapter → Upbit 공개 API</a:t>
            </a:r>
            <a:br/>
            <a:r>
              <a:t>• 응답 스키마 검증 → 화면·일별 기록</a:t>
            </a:r>
            <a:br/>
            <a:r>
              <a:t>• 브라우저는 외부 provider를 직접 호출하지 않음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CARD 1 · 값·단위·출처·두 시각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5</a:t>
            </a:r>
          </a:p>
        </p:txBody>
      </p:sp>
      <p:pic>
        <p:nvPicPr>
          <p:cNvPr id="5" name="Picture 4" descr="C1_현재값_단위_출처_조회시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298" y="1143000"/>
            <a:ext cx="4306355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현재값·KRW·Upbit 출처·원천 관측 시각·조회 시각을 같은 화면에서 확인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공개 대시보드 전체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6</a:t>
            </a:r>
          </a:p>
        </p:txBody>
      </p:sp>
      <p:pic>
        <p:nvPicPr>
          <p:cNvPr id="5" name="Picture 4" descr="02_실시간_대시보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95" y="1143000"/>
            <a:ext cx="31759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실제 공개 원천과 T04 일별 기록 영역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상태별 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7</a:t>
            </a:r>
          </a:p>
        </p:txBody>
      </p:sp>
      <p:pic>
        <p:nvPicPr>
          <p:cNvPr id="5" name="Picture 4" descr="01_상태별_카드_검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992" y="1143000"/>
            <a:ext cx="3282967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fresh · stale · provider error · empty를 구분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CARD 2 · 출처를 한 번 클릭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8</a:t>
            </a:r>
          </a:p>
        </p:txBody>
      </p:sp>
      <p:pic>
        <p:nvPicPr>
          <p:cNvPr id="5" name="Picture 4" descr="06_출처링크_한번클릭_원자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436" y="1143000"/>
            <a:ext cx="9022079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Upbit 공개 원자료 페이지가 새 탭에서 열림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비밀 없는 호출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9</a:t>
            </a:r>
          </a:p>
        </p:txBody>
      </p:sp>
      <p:pic>
        <p:nvPicPr>
          <p:cNvPr id="5" name="Picture 4" descr="C0_T04_독립감사_메타증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63" y="1143000"/>
            <a:ext cx="6410425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브라우저 외부 요청·소스·배포 파일·Git 비밀값 검사 0건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CARD 3 · 다섯 실패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10</a:t>
            </a:r>
          </a:p>
        </p:txBody>
      </p:sp>
      <p:pic>
        <p:nvPicPr>
          <p:cNvPr id="5" name="Picture 4" descr="장애_time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모든 실패는 합성 시험값이며 실제 날짜 기록을 대체하지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실패 1 · timeout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11</a:t>
            </a:r>
          </a:p>
        </p:txBody>
      </p:sp>
      <p:pic>
        <p:nvPicPr>
          <p:cNvPr id="5" name="Picture 4" descr="장애_time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느린 응답을 시간 초과로 분리하고 다시 시도 제공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실패 2 · 401/403 인증 거절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12</a:t>
            </a:r>
          </a:p>
        </p:txBody>
      </p:sp>
      <p:pic>
        <p:nvPicPr>
          <p:cNvPr id="5" name="Picture 4" descr="장애_unauthor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외부 원천 인증 실패를 일반 오류와 구분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실패 3 · 429 호출 제한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13</a:t>
            </a:r>
          </a:p>
        </p:txBody>
      </p:sp>
      <p:pic>
        <p:nvPicPr>
          <p:cNvPr id="5" name="Picture 4" descr="장애_rate-lim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호출 제한 상태와 다음 행동을 별도 표시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실패 4 · 오프라인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14</a:t>
            </a:r>
          </a:p>
        </p:txBody>
      </p:sp>
      <p:pic>
        <p:nvPicPr>
          <p:cNvPr id="5" name="Picture 4" descr="장애_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연결 실패를 별도 오프라인 상태로 표시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실패 5 · 응답 형식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15</a:t>
            </a:r>
          </a:p>
        </p:txBody>
      </p:sp>
      <p:pic>
        <p:nvPicPr>
          <p:cNvPr id="5" name="Picture 4" descr="장애_schema-chan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필수 필드가 없는 JSON을 정상 데이터로 사용하지 않음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정상값이 없으면 빈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16</a:t>
            </a:r>
          </a:p>
        </p:txBody>
      </p:sp>
      <p:pic>
        <p:nvPicPr>
          <p:cNvPr id="5" name="Picture 4" descr="장애_정상값없음_빈상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9385"/>
            <a:ext cx="11183112" cy="42421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값을 꾸며내지 않고 표시할 데이터 없음으로 안내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다시 시도 후 정상 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17</a:t>
            </a:r>
          </a:p>
        </p:txBody>
      </p:sp>
      <p:pic>
        <p:nvPicPr>
          <p:cNvPr id="5" name="Picture 4" descr="장애_다시시도_복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9385"/>
            <a:ext cx="11183112" cy="42421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복구 후 fresh 상태와 정상 데이터로 돌아옴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CARD 4 · 하루 한 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18</a:t>
            </a:r>
          </a:p>
        </p:txBody>
      </p:sp>
      <p:pic>
        <p:nvPicPr>
          <p:cNvPr id="5" name="Picture 4" descr="05_날짜별기록_중복방지_어제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0415"/>
            <a:ext cx="11183112" cy="48400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Asia/Seoul 날짜+데이터 종류 고유키로 같은 날 중복 방지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CARD 5 · 실제 두 날짜 대조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19</a:t>
            </a:r>
          </a:p>
        </p:txBody>
      </p:sp>
      <p:pic>
        <p:nvPicPr>
          <p:cNvPr id="5" name="Picture 4" descr="05_날짜별기록_중복방지_어제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0415"/>
            <a:ext cx="11183112" cy="48400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2026-08-25 109,165,000 → 2026-08-26 109,830,000 KRW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어제 대비 손계산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900" b="0">
                <a:solidFill>
                  <a:srgbClr val="F5F8FC"/>
                </a:solidFill>
              </a:defRPr>
            </a:pPr>
            <a:r>
              <a:t>• 109,830,000 - 109,165,000 = +665,000 KRW</a:t>
            </a:r>
            <a:br/>
            <a:r>
              <a:t>• (665,000 / 109,165,000) × 100 = 0.6091…%</a:t>
            </a:r>
            <a:br/>
            <a:r>
              <a:t>• 화면 반올림 결과 +0.61%와 일치</a:t>
            </a:r>
            <a:br/>
            <a:r>
              <a:t>• 방향·차이·단위·변화율을 같은 계산 규칙으로 재검산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원자료와 저장값이 다르면 중단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21</a:t>
            </a:r>
          </a:p>
        </p:txBody>
      </p:sp>
      <p:pic>
        <p:nvPicPr>
          <p:cNvPr id="5" name="Picture 4" descr="07_원자료_저장값_불일치_비교중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6174"/>
            <a:ext cx="11183112" cy="4888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불일치 데이터를 정상 비교값처럼 표시하지 않는 방어 동작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자동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900" b="0">
                <a:solidFill>
                  <a:srgbClr val="F5F8FC"/>
                </a:solidFill>
              </a:defRPr>
            </a:pPr>
            <a:r>
              <a:t>• ESLint 통과</a:t>
            </a:r>
            <a:br/>
            <a:r>
              <a:t>• TypeScript typecheck 통과</a:t>
            </a:r>
            <a:br/>
            <a:r>
              <a:t>• Vitest 41개 통과</a:t>
            </a:r>
            <a:br/>
            <a:r>
              <a:t>• production build 통과</a:t>
            </a:r>
            <a:br/>
            <a:r>
              <a:t>• Playwright E2E 9개 통과</a:t>
            </a:r>
            <a:br/>
            <a:r>
              <a:t>• 스크린샷별 SHA-256 기록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증거 보관 · 덮어쓰기 방지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23</a:t>
            </a:r>
          </a:p>
        </p:txBody>
      </p:sp>
      <p:pic>
        <p:nvPicPr>
          <p:cNvPr id="5" name="Picture 4" descr="C0_T04_독립감사_메타증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263" y="1143000"/>
            <a:ext cx="6410425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실행마다 UTC timestamp 폴더 생성 · 기존 대상이 있으면 중단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30초 검증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900" b="0">
                <a:solidFill>
                  <a:srgbClr val="F5F8FC"/>
                </a:solidFill>
              </a:defRPr>
            </a:pPr>
            <a:r>
              <a:t>• 1. 공개 주소에서 값·단위·출처·두 시각·KST 확인</a:t>
            </a:r>
            <a:br/>
            <a:r>
              <a:t>• 2. 일별 두 행과 변화값 확인 후 출처 링크 한 번 클릭</a:t>
            </a:r>
            <a:br/>
            <a:r>
              <a:t>• 3. /verification에서 장애 5종·빈 상태·복구 확인</a:t>
            </a:r>
            <a:br/>
            <a:r>
              <a:t>• 통과: 현재/오래된/빈 상태와 실패 문구가 구분되고 계산이 일치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최종 상태와 AI 판단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97280" cy="32004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300" b="1">
                <a:solidFill>
                  <a:srgbClr val="43D3A3"/>
                </a:solidFill>
              </a:defRPr>
            </a:pPr>
            <a:r>
              <a:t>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5257800" cy="182880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700" b="0">
                <a:solidFill>
                  <a:srgbClr val="F5F8FC"/>
                </a:solidFill>
              </a:defRPr>
            </a:pPr>
            <a:r>
              <a:t>공개 주소 · 데이터 맥락 · 비밀값 0건</a:t>
            </a:r>
            <a:br/>
            <a:r>
              <a:t>장애 5종 · stale/empty/retry · 중복 방지</a:t>
            </a:r>
            <a:br/>
            <a:r>
              <a:t>실제 원천 2건 대조 · 문서와 증거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234440"/>
            <a:ext cx="1097280" cy="32004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300" b="1">
                <a:solidFill>
                  <a:srgbClr val="FFB950"/>
                </a:solidFill>
              </a:defRPr>
            </a:pPr>
            <a:r>
              <a:t>보류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5212080" cy="182880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700" b="0">
                <a:solidFill>
                  <a:srgbClr val="F5F8FC"/>
                </a:solidFill>
              </a:defRPr>
            </a:pPr>
            <a:r>
              <a:t>실제 다음 KST 날짜 앱 재실행</a:t>
            </a:r>
            <a:br/>
            <a:r>
              <a:t>제공되지 않은 public asset SHA-256</a:t>
            </a:r>
            <a:br/>
            <a:r>
              <a:t>합성값은 실제 기록으로 주장하지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886200"/>
            <a:ext cx="1828800" cy="27432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100" b="1">
                <a:solidFill>
                  <a:srgbClr val="43D3A3"/>
                </a:solidFill>
              </a:defRPr>
            </a:pPr>
            <a:r>
              <a:t>AI에게 맡긴 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3858768"/>
            <a:ext cx="8869680" cy="36576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400" b="0">
                <a:solidFill>
                  <a:srgbClr val="F5F8FC"/>
                </a:solidFill>
              </a:defRPr>
            </a:pPr>
            <a:r>
              <a:t>오류 분기·일별 기록·자동 검증·증거 문서화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434840"/>
            <a:ext cx="1828800" cy="27432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100" b="1">
                <a:solidFill>
                  <a:srgbClr val="43D3A3"/>
                </a:solidFill>
              </a:defRPr>
            </a:pPr>
            <a:r>
              <a:t>직접 판단한 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4407408"/>
            <a:ext cx="8869680" cy="36576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400" b="0">
                <a:solidFill>
                  <a:srgbClr val="F5F8FC"/>
                </a:solidFill>
              </a:defRPr>
            </a:pPr>
            <a:r>
              <a:t>공개 원천 선택, KST·단위·계산 규칙 대조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983480"/>
            <a:ext cx="1828800" cy="27432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100" b="1">
                <a:solidFill>
                  <a:srgbClr val="43D3A3"/>
                </a:solidFill>
              </a:defRPr>
            </a:pPr>
            <a:r>
              <a:t>따르지 않은 제안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4956048"/>
            <a:ext cx="8869680" cy="36576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400" b="0">
                <a:solidFill>
                  <a:srgbClr val="F5F8FC"/>
                </a:solidFill>
              </a:defRPr>
            </a:pPr>
            <a:r>
              <a:t>합성 값을 실제 날짜 기록처럼 저장하지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789920" cy="27432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100" b="0">
                <a:solidFill>
                  <a:srgbClr val="A5B4C7"/>
                </a:solidFill>
              </a:defRPr>
            </a:pPr>
            <a:r>
              <a:t>전체 원고: docs/T04_제출자료_원고.md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기획 배경과 사용자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789920" cy="41148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300" b="0">
                <a:solidFill>
                  <a:srgbClr val="A5B4C7"/>
                </a:solidFill>
              </a:defRPr>
            </a:pPr>
            <a:r>
              <a:t>README.md · 계획.md · docs/01_기획.md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900" b="0">
                <a:solidFill>
                  <a:srgbClr val="F5F8FC"/>
                </a:solidFill>
              </a:defRPr>
            </a:pPr>
            <a:r>
              <a:t>• 대상: 매일 BTC/KRW 움직임을 빠르게 확인하려는 사용자</a:t>
            </a:r>
            <a:br/>
            <a:r>
              <a:t>• 문제: 현재값만으로는 출처·시각·실패 여부를 판단하기 어려움</a:t>
            </a:r>
            <a:br/>
            <a:r>
              <a:t>• 해결: 데이터 맥락·실패 상태·일별 변화·검증 근거를 한 화면에 결합</a:t>
            </a:r>
            <a:br/>
            <a:r>
              <a:t>• 기존 대시보드 구조를 보존하고 T04 요구 기능만 확장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기술 선택과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789920" cy="41148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300" b="0">
                <a:solidFill>
                  <a:srgbClr val="A5B4C7"/>
                </a:solidFill>
              </a:defRPr>
            </a:pPr>
            <a:r>
              <a:t>계획.md · Codex_작업지시서.md · 작업내역_체크리스트.md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900" b="0">
                <a:solidFill>
                  <a:srgbClr val="F5F8FC"/>
                </a:solidFill>
              </a:defRPr>
            </a:pPr>
            <a:r>
              <a:t>• Next.js + TypeScript + React + TanStack Query</a:t>
            </a:r>
            <a:br/>
            <a:r>
              <a:t>• Route Handler로 비밀값과 외부 호출 경계 관리</a:t>
            </a:r>
            <a:br/>
            <a:r>
              <a:t>• provider adapter로 응답 변환·검증 책임 분리</a:t>
            </a:r>
            <a:br/>
            <a:r>
              <a:t>• 공통 cache·dedupe·timeout·retry·stale fallback 재사용</a:t>
            </a:r>
            <a:br/>
            <a:r>
              <a:t>• localStorage에는 공개 일별 기록만 저장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배포와 운영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28</a:t>
            </a:r>
          </a:p>
        </p:txBody>
      </p:sp>
      <p:pic>
        <p:nvPicPr>
          <p:cNvPr id="5" name="Picture 4" descr="02_실시간_대시보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495" y="1143000"/>
            <a:ext cx="317596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공개 주소 · 서버 전용 환경변수 · 새 시크릿 창 무로그인 접근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트러블슈팅과 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29</a:t>
            </a:r>
          </a:p>
        </p:txBody>
      </p:sp>
      <p:pic>
        <p:nvPicPr>
          <p:cNvPr id="5" name="Picture 4" descr="장애_다시시도_복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9385"/>
            <a:ext cx="11183112" cy="42421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HTTP 상태 분리 · offline/timeout 분리 · schema 경계 검증 · 실제 timeout은 보류 기록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작업 원칙 · 모바일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30</a:t>
            </a:r>
          </a:p>
        </p:txBody>
      </p:sp>
      <p:pic>
        <p:nvPicPr>
          <p:cNvPr id="5" name="Picture 4" descr="X1-모바일_레이아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253" y="1142999"/>
            <a:ext cx="620444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원본 복사본 작업 · 기존 코드/테스트 보존 · 증거 덮어쓰기 금지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문서·증거 색인 · 다크모드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31</a:t>
            </a:r>
          </a:p>
        </p:txBody>
      </p:sp>
      <p:pic>
        <p:nvPicPr>
          <p:cNvPr id="5" name="Picture 4" descr="X2-다크모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298" y="1143000"/>
            <a:ext cx="4306355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36208"/>
            <a:ext cx="10881360" cy="22860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000" b="0">
                <a:solidFill>
                  <a:srgbClr val="A5B4C7"/>
                </a:solidFill>
              </a:defRPr>
            </a:pPr>
            <a:r>
              <a:t>기획·배포·체크리스트·검증안내·AI 3줄·트러블슈팅·스크린샷·SHA-256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3D3A3"/>
                </a:solidFill>
              </a:defRPr>
            </a:pPr>
            <a:r>
              <a:t>T04 · 오늘의 진짜 정보판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5F8FC"/>
                </a:solidFill>
              </a:defRPr>
            </a:pPr>
            <a:r>
              <a:t>포트폴리오 요약과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A5B4C7"/>
                </a:solidFill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789920" cy="411480"/>
          </a:xfrm>
          <a:prstGeom prst="rect">
            <a:avLst/>
          </a:prstGeom>
          <a:noFill/>
        </p:spPr>
        <p:txBody>
          <a:bodyPr wrap="square" lIns="128016" rIns="128016">
            <a:spAutoFit/>
          </a:bodyPr>
          <a:lstStyle/>
          <a:p>
            <a:pPr>
              <a:defRPr sz="1300" b="0">
                <a:solidFill>
                  <a:srgbClr val="A5B4C7"/>
                </a:solidFill>
              </a:defRPr>
            </a:pPr>
            <a:r>
              <a:t>docs/포트폴리오_추가용_소개글.md · docs/AI_3줄.md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solidFill>
            <a:srgbClr val="141C2A"/>
          </a:solidFill>
        </p:spPr>
        <p:txBody>
          <a:bodyPr wrap="square" lIns="128016" rIns="128016">
            <a:spAutoFit/>
          </a:bodyPr>
          <a:lstStyle/>
          <a:p>
            <a:pPr>
              <a:defRPr sz="1900" b="0">
                <a:solidFill>
                  <a:srgbClr val="F5F8FC"/>
                </a:solidFill>
              </a:defRPr>
            </a:pPr>
            <a:r>
              <a:t>• 정상 데이터만 꾸미는 화면이 아니라 실패를 종류별로 설명하는 정보 제품</a:t>
            </a:r>
            <a:br/>
            <a:r>
              <a:t>• 마지막 정상값 보존과 실제 기록 변화 재검산</a:t>
            </a:r>
            <a:br/>
            <a:r>
              <a:t>• 자동 테스트와 덮어쓰기 불가 스크린샷 증거</a:t>
            </a:r>
            <a:br/>
            <a:r>
              <a:t>• 완료와 보류를 분리하고 합성값을 실제 기록으로 주장하지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